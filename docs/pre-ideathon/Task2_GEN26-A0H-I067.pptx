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nesis Ideathon" id="{738414BB-E90B-39D7-38DA-93576361268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898" dt="2026-10-09T15:16:32.673"/>
    <p1510:client id="{190A3E39-5E03-A009-3F9A-4857A30AA423}" v="521" dt="2026-10-09T05:14:24.609"/>
    <p1510:client id="{20A2C252-DD1F-1DC0-4CB6-633E7D82657D}" v="1014" dt="2026-10-09T04:51:02.562"/>
    <p1510:client id="{5B6679D8-1C47-6733-000F-BA0E2C1A0CD6}" v="498" dt="2026-10-07T18:38:43.928"/>
    <p1510:client id="{E91D7BED-F20B-C379-0145-92BF15295CD5}" v="637" dt="2026-10-09T15:39:16.631"/>
    <p1510:client id="{EF5889A2-5ABE-D4E4-B24F-A410DF999180}" v="245" dt="2026-10-09T04:42:52.5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45BAEC-1E11-4328-BAD4-FD7D58C4F996}" type="datetimeFigureOut">
              <a:t>10/9/2026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4528CD-6344-421F-BC62-F1FDFD45DE9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343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320040"/>
            <a:ext cx="82296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pic>
        <p:nvPicPr>
          <p:cNvPr id="3" name="Image 0" descr="Genesi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950" y="384048"/>
            <a:ext cx="534131" cy="6949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Text 2"/>
          <p:cNvSpPr/>
          <p:nvPr/>
        </p:nvSpPr>
        <p:spPr>
          <a:xfrm>
            <a:off x="2286000" y="6355080"/>
            <a:ext cx="7619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>
                <a:solidFill>
                  <a:schemeClr val="accent6"/>
                </a:solidFill>
              </a:rPr>
              <a:t>Genesis Ideathon – Pre-Ideathon Template</a:t>
            </a:r>
            <a:endParaRPr lang="en-US" sz="1050"/>
          </a:p>
        </p:txBody>
      </p:sp>
      <p:sp>
        <p:nvSpPr>
          <p:cNvPr id="6" name="Text 3"/>
          <p:cNvSpPr/>
          <p:nvPr/>
        </p:nvSpPr>
        <p:spPr>
          <a:xfrm>
            <a:off x="11259007" y="6409944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4"/>
          <p:cNvSpPr/>
          <p:nvPr/>
        </p:nvSpPr>
        <p:spPr>
          <a:xfrm rot="5400000">
            <a:off x="10610311" y="4686300"/>
            <a:ext cx="1425408" cy="1234440"/>
          </a:xfrm>
          <a:prstGeom prst="hexagon">
            <a:avLst/>
          </a:prstGeom>
          <a:ln w="15875">
            <a:solidFill>
              <a:schemeClr val="accent4">
                <a:alpha val="2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8" name="Text 5"/>
          <p:cNvSpPr/>
          <p:nvPr/>
        </p:nvSpPr>
        <p:spPr>
          <a:xfrm rot="5400000">
            <a:off x="9750599" y="534924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20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9" name="Text 6"/>
          <p:cNvSpPr/>
          <p:nvPr/>
        </p:nvSpPr>
        <p:spPr>
          <a:xfrm rot="5400000">
            <a:off x="11579399" y="384048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1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0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400" b="1" kern="0" spc="10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TITLE</a:t>
            </a:r>
            <a:endParaRPr lang="en-US" sz="24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Hexagon"/>
          <p:cNvSpPr/>
          <p:nvPr/>
        </p:nvSpPr>
        <p:spPr>
          <a:xfrm rot="5400000">
            <a:off x="8841585" y="-122252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3" name="Cover Hexagon"/>
          <p:cNvSpPr/>
          <p:nvPr/>
        </p:nvSpPr>
        <p:spPr>
          <a:xfrm rot="5400000">
            <a:off x="10524081" y="1691640"/>
            <a:ext cx="3695502" cy="3200400"/>
          </a:xfrm>
          <a:prstGeom prst="hexagon">
            <a:avLst/>
          </a:prstGeom>
          <a:solidFill>
            <a:schemeClr val="accent1">
              <a:alpha val="25000"/>
            </a:schemeClr>
          </a:solidFill>
          <a:ln w="15875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4" name="Cover Hexagon"/>
          <p:cNvSpPr/>
          <p:nvPr/>
        </p:nvSpPr>
        <p:spPr>
          <a:xfrm rot="5400000">
            <a:off x="8841585" y="460580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5" name="Cover Hexagon"/>
          <p:cNvSpPr/>
          <p:nvPr/>
        </p:nvSpPr>
        <p:spPr>
          <a:xfrm rot="5400000">
            <a:off x="6613359" y="3177540"/>
            <a:ext cx="580722" cy="502920"/>
          </a:xfrm>
          <a:prstGeom prst="hexagon">
            <a:avLst/>
          </a:prstGeom>
          <a:solidFill>
            <a:schemeClr val="accent3"/>
          </a:solidFill>
          <a:ln/>
        </p:spPr>
      </p:sp>
      <p:sp>
        <p:nvSpPr>
          <p:cNvPr id="6" name="Cover Hexagon"/>
          <p:cNvSpPr/>
          <p:nvPr/>
        </p:nvSpPr>
        <p:spPr>
          <a:xfrm rot="5400000">
            <a:off x="10849583" y="1728216"/>
            <a:ext cx="337874" cy="292608"/>
          </a:xfrm>
          <a:prstGeom prst="hexagon">
            <a:avLst/>
          </a:prstGeom>
          <a:solidFill>
            <a:schemeClr val="accent3">
              <a:alpha val="70000"/>
            </a:schemeClr>
          </a:solidFill>
          <a:ln/>
        </p:spPr>
      </p:sp>
      <p:sp>
        <p:nvSpPr>
          <p:cNvPr id="7" name="Cover Hexagon"/>
          <p:cNvSpPr/>
          <p:nvPr/>
        </p:nvSpPr>
        <p:spPr>
          <a:xfrm rot="5400000">
            <a:off x="6868728" y="1440180"/>
            <a:ext cx="4276224" cy="3703320"/>
          </a:xfrm>
          <a:prstGeom prst="hexagon">
            <a:avLst/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8" name="Cover Hexagon"/>
          <p:cNvSpPr/>
          <p:nvPr/>
        </p:nvSpPr>
        <p:spPr>
          <a:xfrm rot="5400000">
            <a:off x="6755697" y="4800600"/>
            <a:ext cx="844686" cy="731520"/>
          </a:xfrm>
          <a:prstGeom prst="hexagon">
            <a:avLst/>
          </a:prstGeom>
          <a:ln w="19050">
            <a:solidFill>
              <a:schemeClr val="accent3">
                <a:alpha val="65000"/>
              </a:schemeClr>
            </a:solidFill>
            <a:prstDash val="solid"/>
          </a:ln>
        </p:spPr>
      </p:sp>
      <p:sp>
        <p:nvSpPr>
          <p:cNvPr id="9" name="Cover Hexagon"/>
          <p:cNvSpPr/>
          <p:nvPr/>
        </p:nvSpPr>
        <p:spPr>
          <a:xfrm rot="5400000">
            <a:off x="7159089" y="1691640"/>
            <a:ext cx="3695502" cy="3200400"/>
          </a:xfrm>
          <a:prstGeom prst="hexagon">
            <a:avLst/>
          </a:prstGeom>
          <a:solidFill>
            <a:schemeClr val="bg1"/>
          </a:solidFill>
          <a:ln w="38100">
            <a:solidFill>
              <a:schemeClr val="accent3"/>
            </a:solidFill>
            <a:prstDash val="solid"/>
          </a:ln>
        </p:spPr>
      </p:sp>
      <p:pic>
        <p:nvPicPr>
          <p:cNvPr id="10" name="Genesis Logo" descr="Genesi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66" y="2125980"/>
            <a:ext cx="1792148" cy="2331720"/>
          </a:xfrm>
          <a:prstGeom prst="rect">
            <a:avLst/>
          </a:prstGeom>
        </p:spPr>
      </p:pic>
      <p:sp>
        <p:nvSpPr>
          <p:cNvPr id="11" name="Kicker"/>
          <p:cNvSpPr txBox="1"/>
          <p:nvPr/>
        </p:nvSpPr>
        <p:spPr>
          <a:xfrm>
            <a:off x="548640" y="502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>
                <a:solidFill>
                  <a:schemeClr val="accent3"/>
                </a:solidFill>
              </a:rPr>
              <a:t>PRE-IDEATHON TEMPLATE</a:t>
            </a:r>
            <a:endParaRPr lang="en-US" sz="1200"/>
          </a:p>
        </p:txBody>
      </p:sp>
      <p:sp>
        <p:nvSpPr>
          <p:cNvPr id="12" name="Event Title"/>
          <p:cNvSpPr txBox="1"/>
          <p:nvPr/>
        </p:nvSpPr>
        <p:spPr>
          <a:xfrm>
            <a:off x="548640" y="868680"/>
            <a:ext cx="5669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GENESIS</a:t>
            </a:r>
            <a:endParaRPr lang="en-US" sz="5400"/>
          </a:p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IDEATHON</a:t>
            </a:r>
            <a:endParaRPr lang="en-US" sz="5400"/>
          </a:p>
        </p:txBody>
      </p:sp>
      <p:sp>
        <p:nvSpPr>
          <p:cNvPr id="13" name="Section Chip"/>
          <p:cNvSpPr/>
          <p:nvPr/>
        </p:nvSpPr>
        <p:spPr>
          <a:xfrm>
            <a:off x="548640" y="2606040"/>
            <a:ext cx="2103120" cy="384048"/>
          </a:xfrm>
          <a:prstGeom prst="roundRect">
            <a:avLst>
              <a:gd name="adj" fmla="val 50000"/>
            </a:avLst>
          </a:prstGeom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>
                <a:solidFill>
                  <a:schemeClr val="bg1"/>
                </a:solidFill>
              </a:rPr>
              <a:t>TEAM &amp; DOMAIN</a:t>
            </a:r>
            <a:endParaRPr lang="en-US" sz="1300"/>
          </a:p>
        </p:txBody>
      </p:sp>
      <p:sp>
        <p:nvSpPr>
          <p:cNvPr id="14" name="Cover Lead"/>
          <p:cNvSpPr txBox="1"/>
          <p:nvPr/>
        </p:nvSpPr>
        <p:spPr>
          <a:xfrm>
            <a:off x="426720" y="30581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chemeClr val="accent6"/>
                </a:solidFill>
              </a:rPr>
              <a:t>Introduce your team and the domain you have chosen</a:t>
            </a:r>
            <a:endParaRPr lang="en-US" sz="1600"/>
          </a:p>
        </p:txBody>
      </p:sp>
      <p:sp>
        <p:nvSpPr>
          <p:cNvPr id="15" name="Cover Fields"/>
          <p:cNvSpPr txBox="1"/>
          <p:nvPr/>
        </p:nvSpPr>
        <p:spPr>
          <a:xfrm>
            <a:off x="233680" y="3429000"/>
            <a:ext cx="967232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>
                <a:solidFill>
                  <a:schemeClr val="bg1"/>
                </a:solidFill>
              </a:rPr>
              <a:t>Team Name –</a:t>
            </a:r>
            <a:r>
              <a:rPr lang="en-US">
                <a:solidFill>
                  <a:schemeClr val="bg1"/>
                </a:solidFill>
              </a:rPr>
              <a:t>Aviators</a:t>
            </a:r>
            <a:endParaRPr lang="en-US" sz="180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>
                <a:solidFill>
                  <a:schemeClr val="bg1"/>
                </a:solidFill>
              </a:rPr>
              <a:t>Team Members </a:t>
            </a:r>
            <a:r>
              <a:rPr lang="en-US">
                <a:solidFill>
                  <a:schemeClr val="bg1"/>
                </a:solidFill>
              </a:rPr>
              <a:t>- 1.Varshith Vrindesh -CB.EN.U4AEE25053</a:t>
            </a:r>
          </a:p>
          <a:p>
            <a:pPr>
              <a:spcAft>
                <a:spcPts val="1400"/>
              </a:spcAft>
              <a:buClr>
                <a:schemeClr val="accent3"/>
              </a:buClr>
              <a:buSzPct val="100000"/>
            </a:pPr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      2.Jatin Dinesh - CB.EN.U4AEE25020</a:t>
            </a:r>
          </a:p>
          <a:p>
            <a:pPr>
              <a:spcAft>
                <a:spcPts val="1400"/>
              </a:spcAft>
              <a:buClr>
                <a:schemeClr val="accent3"/>
              </a:buClr>
              <a:buSzPct val="100000"/>
            </a:pPr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      3.Akshara </a:t>
            </a:r>
            <a:r>
              <a:rPr lang="en-US" err="1">
                <a:solidFill>
                  <a:schemeClr val="bg1"/>
                </a:solidFill>
                <a:ea typeface="Calibri"/>
                <a:cs typeface="Calibri"/>
              </a:rPr>
              <a:t>Pulicherla</a:t>
            </a:r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 - CB.EN.U4AEE25003</a:t>
            </a:r>
          </a:p>
          <a:p>
            <a:pPr>
              <a:spcAft>
                <a:spcPts val="1400"/>
              </a:spcAft>
              <a:buClr>
                <a:schemeClr val="accent3"/>
              </a:buClr>
              <a:buSzPct val="100000"/>
            </a:pPr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      4.Gurucharan - CB.EN.U4AEE25037</a:t>
            </a:r>
            <a:endParaRPr lang="en-US">
              <a:solidFill>
                <a:schemeClr val="bg1"/>
              </a:solidFill>
            </a:endParaRPr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>
                <a:solidFill>
                  <a:schemeClr val="bg1"/>
                </a:solidFill>
              </a:rPr>
              <a:t>Selected Domain –</a:t>
            </a:r>
            <a:r>
              <a:rPr lang="en-US">
                <a:solidFill>
                  <a:schemeClr val="bg1"/>
                </a:solidFill>
              </a:rPr>
              <a:t>8</a:t>
            </a:r>
            <a:endParaRPr lang="en-US" sz="1800">
              <a:solidFill>
                <a:schemeClr val="bg1"/>
              </a:solidFill>
            </a:endParaRPr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Font typeface="Arial"/>
              <a:buChar char="•"/>
            </a:pPr>
            <a:r>
              <a:rPr lang="en-US" sz="1800">
                <a:solidFill>
                  <a:schemeClr val="bg1"/>
                </a:solidFill>
              </a:rPr>
              <a:t>Problem Statement –</a:t>
            </a: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Current flight ground operations rely on inefficient jet engines, causing massive fuel waste, expensive engine damage, and severe pollution that prevents sustainable aviation.</a:t>
            </a:r>
            <a:endParaRPr lang="en-US" sz="180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PROBLEM IN OUR WORDS</a:t>
            </a:r>
            <a:endParaRPr lang="en-US" sz="240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>
                <a:solidFill>
                  <a:schemeClr val="accent5"/>
                </a:solidFill>
              </a:rPr>
              <a:t>TEAM</a:t>
            </a:r>
            <a:endParaRPr lang="en-US" sz="900"/>
          </a:p>
          <a:p>
            <a:pPr marL="0" indent="0">
              <a:buNone/>
            </a:pPr>
            <a:r>
              <a:rPr lang="en-US" sz="1500" b="1">
                <a:solidFill>
                  <a:schemeClr val="accent1"/>
                </a:solidFill>
                <a:ea typeface="Calibri"/>
                <a:cs typeface="Calibri"/>
              </a:rPr>
              <a:t>Aviators</a:t>
            </a:r>
          </a:p>
        </p:txBody>
      </p:sp>
      <p:sp>
        <p:nvSpPr>
          <p:cNvPr id="7" name="Lead Icon Hex"/>
          <p:cNvSpPr/>
          <p:nvPr/>
        </p:nvSpPr>
        <p:spPr>
          <a:xfrm>
            <a:off x="548640" y="121920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27955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39952" y="12141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chemeClr val="accent2"/>
                </a:solidFill>
              </a:rPr>
              <a:t>Explain the problem in your domain simply, in your own words</a:t>
            </a:r>
            <a:endParaRPr lang="en-US" sz="1800"/>
          </a:p>
        </p:txBody>
      </p:sp>
      <p:sp>
        <p:nvSpPr>
          <p:cNvPr id="10" name="Prompts"/>
          <p:cNvSpPr txBox="1"/>
          <p:nvPr/>
        </p:nvSpPr>
        <p:spPr>
          <a:xfrm>
            <a:off x="350520" y="1711960"/>
            <a:ext cx="11501120" cy="461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buClr>
                <a:schemeClr val="accent1"/>
              </a:buClr>
              <a:buSzPct val="100000"/>
            </a:pPr>
            <a:r>
              <a:rPr lang="en-US" b="1">
                <a:ea typeface="+mn-lt"/>
                <a:cs typeface="+mn-lt"/>
              </a:rPr>
              <a:t>Q1)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What exactly needs to be solved? </a:t>
            </a:r>
            <a:endParaRPr lang="en-US"/>
          </a:p>
          <a:p>
            <a:pPr algn="just"/>
            <a:endParaRPr lang="en-US" sz="600" b="1" dirty="0">
              <a:ea typeface="+mn-lt"/>
              <a:cs typeface="+mn-lt"/>
            </a:endParaRPr>
          </a:p>
          <a:p>
            <a:pPr algn="just">
              <a:buClr>
                <a:schemeClr val="accent1"/>
              </a:buClr>
              <a:buSzPct val="100000"/>
            </a:pPr>
            <a:r>
              <a:rPr lang="en-US" sz="1600" b="1">
                <a:ea typeface="+mn-lt"/>
                <a:cs typeface="+mn-lt"/>
              </a:rPr>
              <a:t>1.Fuel Waste and Congestion: </a:t>
            </a:r>
            <a:r>
              <a:rPr lang="en-US" sz="1600">
                <a:ea typeface="+mn-lt"/>
                <a:cs typeface="+mn-lt"/>
              </a:rPr>
              <a:t>These</a:t>
            </a:r>
            <a:r>
              <a:rPr lang="en-US" sz="1600" b="1">
                <a:ea typeface="+mn-lt"/>
                <a:cs typeface="+mn-lt"/>
              </a:rPr>
              <a:t> </a:t>
            </a:r>
            <a:r>
              <a:rPr lang="en-US" sz="1600">
                <a:ea typeface="+mn-lt"/>
                <a:cs typeface="+mn-lt"/>
              </a:rPr>
              <a:t>cause severe financial losses for airlines.</a:t>
            </a:r>
            <a:endParaRPr lang="en-US" sz="1600">
              <a:ea typeface="Calibri"/>
              <a:cs typeface="Calibri"/>
            </a:endParaRPr>
          </a:p>
          <a:p>
            <a:pPr algn="just"/>
            <a:endParaRPr lang="en-US" sz="600" dirty="0">
              <a:ea typeface="+mn-lt"/>
              <a:cs typeface="+mn-lt"/>
            </a:endParaRPr>
          </a:p>
          <a:p>
            <a:pPr algn="just"/>
            <a:r>
              <a:rPr lang="en-US" sz="1600" b="1" dirty="0">
                <a:ea typeface="+mn-lt"/>
                <a:cs typeface="+mn-lt"/>
              </a:rPr>
              <a:t>2.Inefficient Use:</a:t>
            </a:r>
            <a:r>
              <a:rPr lang="en-US" sz="1600">
                <a:ea typeface="+mn-lt"/>
                <a:cs typeface="+mn-lt"/>
              </a:rPr>
              <a:t> Jet engines operate efficiently at high altitudes, not at slower speeds on the ground</a:t>
            </a:r>
            <a:endParaRPr lang="en-US" sz="1600" dirty="0">
              <a:ea typeface="Calibri"/>
              <a:cs typeface="Calibri"/>
            </a:endParaRPr>
          </a:p>
          <a:p>
            <a:pPr algn="just"/>
            <a:endParaRPr lang="en-US" sz="600" dirty="0">
              <a:ea typeface="+mn-lt"/>
              <a:cs typeface="+mn-lt"/>
            </a:endParaRPr>
          </a:p>
          <a:p>
            <a:pPr algn="just"/>
            <a:r>
              <a:rPr lang="en-US" sz="1600" b="1" dirty="0">
                <a:ea typeface="+mn-lt"/>
                <a:cs typeface="+mn-lt"/>
              </a:rPr>
              <a:t>3.Breakaway Thrust:</a:t>
            </a:r>
            <a:r>
              <a:rPr lang="en-US" sz="1600">
                <a:ea typeface="+mn-lt"/>
                <a:cs typeface="+mn-lt"/>
              </a:rPr>
              <a:t> Heavy aircraft need high power just to start moving. Stop-and-go traffic on the taxiway causes huge fuel usage and </a:t>
            </a:r>
            <a:r>
              <a:rPr lang="en-US" sz="1600" dirty="0">
                <a:ea typeface="+mn-lt"/>
                <a:cs typeface="+mn-lt"/>
              </a:rPr>
              <a:t>waste of potential fuel that can be used in the cruise phase.</a:t>
            </a:r>
            <a:endParaRPr lang="en-US" sz="1600" dirty="0">
              <a:ea typeface="Calibri"/>
              <a:cs typeface="Calibri"/>
            </a:endParaRPr>
          </a:p>
          <a:p>
            <a:pPr algn="just"/>
            <a:endParaRPr lang="en-US" sz="600" dirty="0">
              <a:ea typeface="+mn-lt"/>
              <a:cs typeface="+mn-lt"/>
            </a:endParaRPr>
          </a:p>
          <a:p>
            <a:pPr marL="285750" algn="just">
              <a:buFont typeface="Wingdings"/>
              <a:buChar char="Ø"/>
            </a:pPr>
            <a:r>
              <a:rPr lang="en-US" sz="1600" b="1" dirty="0" err="1">
                <a:ea typeface="+mn-lt"/>
                <a:cs typeface="+mn-lt"/>
              </a:rPr>
              <a:t>MagTaxi</a:t>
            </a:r>
            <a:r>
              <a:rPr lang="en-US" sz="1600" dirty="0">
                <a:ea typeface="+mn-lt"/>
                <a:cs typeface="+mn-lt"/>
              </a:rPr>
              <a:t> stops this waste by keeping the main engines off until the aircraft reaches the runway.</a:t>
            </a:r>
            <a:endParaRPr lang="en-US" sz="1600" dirty="0">
              <a:ea typeface="Calibri"/>
              <a:cs typeface="Calibri"/>
            </a:endParaRPr>
          </a:p>
          <a:p>
            <a:pPr marL="285750" algn="just">
              <a:buFont typeface="Wingdings"/>
              <a:buChar char="Ø"/>
            </a:pPr>
            <a:endParaRPr lang="en-US" sz="700" dirty="0">
              <a:ea typeface="Calibri"/>
              <a:cs typeface="Calibri"/>
            </a:endParaRPr>
          </a:p>
          <a:p>
            <a:pPr algn="just">
              <a:spcAft>
                <a:spcPts val="1000"/>
              </a:spcAft>
              <a:buFont typeface="Arial"/>
            </a:pPr>
            <a:r>
              <a:rPr lang="en-US" b="1">
                <a:ea typeface="Calibri"/>
                <a:cs typeface="Calibri"/>
              </a:rPr>
              <a:t>Q2) Why is it important right now?</a:t>
            </a:r>
          </a:p>
          <a:p>
            <a:pPr algn="just"/>
            <a:r>
              <a:rPr lang="en-US" sz="1600" b="1">
                <a:ea typeface="+mn-lt"/>
                <a:cs typeface="+mn-lt"/>
              </a:rPr>
              <a:t>1.Climate Mandates:</a:t>
            </a:r>
            <a:r>
              <a:rPr lang="en-US" sz="1600">
                <a:ea typeface="+mn-lt"/>
                <a:cs typeface="+mn-lt"/>
              </a:rPr>
              <a:t> Aviation must reach net-zero emissions by 2050. Stopping ground idling is the fastest way to eliminate massive carbon pollution today.</a:t>
            </a:r>
            <a:endParaRPr lang="en-US" sz="1600">
              <a:solidFill>
                <a:srgbClr val="000000"/>
              </a:solidFill>
              <a:ea typeface="+mn-lt"/>
              <a:cs typeface="+mn-lt"/>
            </a:endParaRPr>
          </a:p>
          <a:p>
            <a:pPr algn="just"/>
            <a:endParaRPr lang="en-US" sz="600" dirty="0">
              <a:ea typeface="+mn-lt"/>
              <a:cs typeface="+mn-lt"/>
            </a:endParaRPr>
          </a:p>
          <a:p>
            <a:pPr algn="just">
              <a:buFont typeface="Arial"/>
            </a:pPr>
            <a:r>
              <a:rPr lang="en-US" sz="1600" b="1">
                <a:ea typeface="+mn-lt"/>
                <a:cs typeface="+mn-lt"/>
              </a:rPr>
              <a:t>2.High Costs:</a:t>
            </a:r>
            <a:r>
              <a:rPr lang="en-US" sz="1600">
                <a:ea typeface="+mn-lt"/>
                <a:cs typeface="+mn-lt"/>
              </a:rPr>
              <a:t> Jet fuel is very expensive. Airlines urgently need to stop wasting millions of dollars driving planes on the ground to protect their profits.</a:t>
            </a:r>
            <a:endParaRPr lang="en-US" sz="1600" dirty="0">
              <a:ea typeface="Calibri"/>
              <a:cs typeface="Calibri"/>
            </a:endParaRPr>
          </a:p>
          <a:p>
            <a:pPr algn="just">
              <a:buFont typeface="Arial"/>
            </a:pPr>
            <a:endParaRPr lang="en-US" sz="600" dirty="0">
              <a:ea typeface="+mn-lt"/>
              <a:cs typeface="+mn-lt"/>
            </a:endParaRPr>
          </a:p>
          <a:p>
            <a:pPr algn="just">
              <a:buFont typeface="Arial"/>
            </a:pPr>
            <a:r>
              <a:rPr lang="en-US" sz="1600" b="1">
                <a:ea typeface="+mn-lt"/>
                <a:cs typeface="+mn-lt"/>
              </a:rPr>
              <a:t>3.Airport Congestion:</a:t>
            </a:r>
            <a:r>
              <a:rPr lang="en-US" sz="1600">
                <a:ea typeface="+mn-lt"/>
                <a:cs typeface="+mn-lt"/>
              </a:rPr>
              <a:t> Global air traffic is growing, but airports have no space to build new taxiways. Automated tracks prevent gridlock by routing aircraft perfectly.</a:t>
            </a:r>
            <a:endParaRPr lang="en-US" sz="1600" dirty="0">
              <a:ea typeface="+mn-lt"/>
              <a:cs typeface="+mn-lt"/>
            </a:endParaRPr>
          </a:p>
          <a:p>
            <a:pPr algn="just">
              <a:buFont typeface="Arial"/>
            </a:pPr>
            <a:endParaRPr lang="en-US" sz="600" dirty="0">
              <a:ea typeface="+mn-lt"/>
              <a:cs typeface="+mn-lt"/>
            </a:endParaRPr>
          </a:p>
          <a:p>
            <a:pPr algn="just"/>
            <a:r>
              <a:rPr lang="en-US" sz="1600" b="1">
                <a:ea typeface="+mn-lt"/>
                <a:cs typeface="+mn-lt"/>
              </a:rPr>
              <a:t>4.Noise Restrictions:</a:t>
            </a:r>
            <a:r>
              <a:rPr lang="en-US" sz="1600">
                <a:ea typeface="+mn-lt"/>
                <a:cs typeface="+mn-lt"/>
              </a:rPr>
              <a:t> Cities are enforcing strict airport noise curfews. Silent magnetic tracks allow airports to safely operate more flights late at night without disturbing local communities.</a:t>
            </a:r>
            <a:endParaRPr lang="en-US" sz="1600" dirty="0">
              <a:ea typeface="+mn-lt"/>
              <a:cs typeface="+mn-lt"/>
            </a:endParaRPr>
          </a:p>
          <a:p>
            <a:pPr algn="just">
              <a:spcAft>
                <a:spcPts val="1000"/>
              </a:spcAft>
              <a:buFont typeface="Arial"/>
            </a:pPr>
            <a:endParaRPr lang="en-US" sz="1600" b="1" dirty="0">
              <a:ea typeface="Calibri"/>
              <a:cs typeface="Calibri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r>
              <a:rPr lang="en-US" b="1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404706"/>
            <a:ext cx="5776525" cy="653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AFFECTED?</a:t>
            </a:r>
            <a:endParaRPr lang="en-US" sz="240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>
                <a:solidFill>
                  <a:schemeClr val="accent5"/>
                </a:solidFill>
              </a:rPr>
              <a:t>TEAM</a:t>
            </a:r>
            <a:endParaRPr lang="en-US" sz="900"/>
          </a:p>
          <a:p>
            <a:pPr marL="0" indent="0">
              <a:buNone/>
            </a:pPr>
            <a:r>
              <a:rPr lang="en-US" sz="1500" b="1">
                <a:solidFill>
                  <a:schemeClr val="accent1"/>
                </a:solidFill>
              </a:rPr>
              <a:t>Aviators</a:t>
            </a:r>
            <a:endParaRPr lang="en-US" sz="90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chemeClr val="accent2"/>
                </a:solidFill>
              </a:rPr>
              <a:t>Target users, stakeholders, beneficiaries</a:t>
            </a:r>
            <a:endParaRPr lang="en-US" sz="2000">
              <a:solidFill>
                <a:schemeClr val="accent2"/>
              </a:solidFill>
              <a:ea typeface="Calibri"/>
              <a:cs typeface="Calibri"/>
            </a:endParaRPr>
          </a:p>
        </p:txBody>
      </p:sp>
      <p:sp>
        <p:nvSpPr>
          <p:cNvPr id="10" name="Prompts"/>
          <p:cNvSpPr txBox="1"/>
          <p:nvPr/>
        </p:nvSpPr>
        <p:spPr>
          <a:xfrm>
            <a:off x="798124" y="1923062"/>
            <a:ext cx="10339494" cy="4468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b="1" dirty="0"/>
              <a:t>Primary users / target group</a:t>
            </a:r>
            <a:r>
              <a:rPr lang="en-US" b="1" dirty="0"/>
              <a:t>:- </a:t>
            </a:r>
            <a:endParaRPr lang="en-US" b="1" dirty="0">
              <a:ea typeface="Calibri"/>
              <a:cs typeface="Calibri"/>
            </a:endParaRPr>
          </a:p>
          <a:p>
            <a:pPr>
              <a:spcAft>
                <a:spcPts val="1000"/>
              </a:spcAft>
            </a:pPr>
            <a:r>
              <a:rPr lang="en-US" b="1" dirty="0">
                <a:ea typeface="Calibri"/>
                <a:cs typeface="Calibri"/>
              </a:rPr>
              <a:t> </a:t>
            </a:r>
            <a:r>
              <a:rPr lang="en-US">
                <a:ea typeface="Calibri"/>
                <a:cs typeface="Calibri"/>
              </a:rPr>
              <a:t> - Commercial airlines and flight crews</a:t>
            </a:r>
          </a:p>
          <a:p>
            <a:pPr>
              <a:spcAft>
                <a:spcPts val="1000"/>
              </a:spcAft>
            </a:pPr>
            <a:r>
              <a:rPr lang="en-US">
                <a:ea typeface="Calibri"/>
                <a:cs typeface="Calibri"/>
              </a:rPr>
              <a:t>  - Airport ground control and traffic control</a:t>
            </a: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b="1"/>
              <a:t>Secondary stakeholders</a:t>
            </a:r>
            <a:r>
              <a:rPr lang="en-US" b="1"/>
              <a:t>:-</a:t>
            </a:r>
            <a:endParaRPr lang="en-US" sz="1800" b="1">
              <a:ea typeface="Calibri"/>
              <a:cs typeface="Calibri"/>
            </a:endParaRP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b="1" dirty="0">
                <a:ea typeface="Calibri"/>
                <a:cs typeface="Calibri"/>
              </a:rPr>
              <a:t> </a:t>
            </a:r>
            <a:r>
              <a:rPr lang="en-US">
                <a:ea typeface="Calibri"/>
                <a:cs typeface="Calibri"/>
              </a:rPr>
              <a:t> </a:t>
            </a:r>
            <a:r>
              <a:rPr lang="en-US">
                <a:solidFill>
                  <a:srgbClr val="0E2A2F"/>
                </a:solidFill>
                <a:ea typeface="+mn-lt"/>
                <a:cs typeface="+mn-lt"/>
              </a:rPr>
              <a:t>- </a:t>
            </a: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Aviation Safety &amp; Regulatory Bodies</a:t>
            </a:r>
            <a:endParaRPr lang="en-US">
              <a:ea typeface="Calibri"/>
              <a:cs typeface="Calibri"/>
            </a:endParaRPr>
          </a:p>
          <a:p>
            <a:pPr>
              <a:spcAft>
                <a:spcPts val="1000"/>
              </a:spcAft>
            </a:pPr>
            <a:r>
              <a:rPr lang="en-US">
                <a:solidFill>
                  <a:srgbClr val="000000"/>
                </a:solidFill>
                <a:ea typeface="Calibri"/>
                <a:cs typeface="Calibri"/>
              </a:rPr>
              <a:t>  </a:t>
            </a: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- Airport Infrastructure &amp; Construction Developers</a:t>
            </a:r>
            <a:endParaRPr lang="en-US">
              <a:solidFill>
                <a:srgbClr val="000000"/>
              </a:solidFill>
            </a:endParaRPr>
          </a:p>
          <a:p>
            <a:pPr>
              <a:spcAft>
                <a:spcPts val="1000"/>
              </a:spcAft>
            </a:pPr>
            <a:r>
              <a:rPr lang="en-US">
                <a:solidFill>
                  <a:srgbClr val="000000"/>
                </a:solidFill>
                <a:ea typeface="Calibri"/>
                <a:cs typeface="Calibri"/>
              </a:rPr>
              <a:t>  - Aircraft OEMs (Original Equipment Manufacturers)</a:t>
            </a:r>
            <a:endParaRPr lang="en-US">
              <a:solidFill>
                <a:srgbClr val="000000"/>
              </a:solidFill>
            </a:endParaRP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b="1"/>
              <a:t>Who benefits if the problem is solved</a:t>
            </a:r>
            <a:r>
              <a:rPr lang="en-US" b="1"/>
              <a:t>:-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>
                <a:ea typeface="Calibri"/>
                <a:cs typeface="Calibri"/>
              </a:rPr>
              <a:t>  - Local communities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spcAft>
                <a:spcPts val="1000"/>
              </a:spcAft>
            </a:pPr>
            <a:r>
              <a:rPr lang="en-US">
                <a:solidFill>
                  <a:srgbClr val="000000"/>
                </a:solidFill>
                <a:ea typeface="Calibri"/>
                <a:cs typeface="Calibri"/>
              </a:rPr>
              <a:t>  - Airport Ground Staff</a:t>
            </a:r>
          </a:p>
          <a:p>
            <a:pPr>
              <a:spcAft>
                <a:spcPts val="1000"/>
              </a:spcAft>
            </a:pPr>
            <a:r>
              <a:rPr lang="en-US">
                <a:solidFill>
                  <a:srgbClr val="000000"/>
                </a:solidFill>
                <a:ea typeface="Calibri"/>
                <a:cs typeface="Calibri"/>
              </a:rPr>
              <a:t>  - Global climate goals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3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EFC3485-A4D6-9544-DD67-C2853AAFAA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5742" y="4338320"/>
            <a:ext cx="2342515" cy="1635760"/>
          </a:xfrm>
          <a:prstGeom prst="rect">
            <a:avLst/>
          </a:prstGeom>
          <a:ln w="38100" cap="sq">
            <a:solidFill>
              <a:schemeClr val="accent4">
                <a:lumMod val="7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4" name="Picture 13" descr="Directorate General of Civil Aviation (India) - Wikipedia">
            <a:extLst>
              <a:ext uri="{FF2B5EF4-FFF2-40B4-BE49-F238E27FC236}">
                <a16:creationId xmlns:a16="http://schemas.microsoft.com/office/drawing/2014/main" id="{069A56A7-B07A-6226-ABD0-710C991CA3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5405" y="2889105"/>
            <a:ext cx="2343785" cy="1270635"/>
          </a:xfrm>
          <a:prstGeom prst="rect">
            <a:avLst/>
          </a:prstGeom>
          <a:ln w="38100" cap="sq">
            <a:solidFill>
              <a:schemeClr val="accent4">
                <a:lumMod val="7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8547002-1C0C-CAA3-C821-CC44E10EB9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39435" y="1302145"/>
            <a:ext cx="2344420" cy="1385570"/>
          </a:xfrm>
          <a:prstGeom prst="rect">
            <a:avLst/>
          </a:prstGeom>
          <a:ln w="38100" cap="sq">
            <a:solidFill>
              <a:schemeClr val="accent4">
                <a:lumMod val="7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SITUATION &amp; CONTEXT</a:t>
            </a:r>
            <a:endParaRPr lang="en-US" sz="240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>
                <a:solidFill>
                  <a:schemeClr val="accent5"/>
                </a:solidFill>
              </a:rPr>
              <a:t>TEAM</a:t>
            </a:r>
            <a:endParaRPr lang="en-US" sz="900"/>
          </a:p>
          <a:p>
            <a:pPr marL="0" indent="0">
              <a:buNone/>
            </a:pPr>
            <a:r>
              <a:rPr lang="en-US" sz="1500" b="1">
                <a:solidFill>
                  <a:schemeClr val="accent1"/>
                </a:solidFill>
              </a:rPr>
              <a:t>Aviators</a:t>
            </a:r>
            <a:endParaRPr lang="en-US" sz="90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chemeClr val="accent2"/>
                </a:solidFill>
              </a:rPr>
              <a:t>Existing scenario, background and how things work today</a:t>
            </a:r>
            <a:endParaRPr lang="en-US" sz="1800"/>
          </a:p>
        </p:txBody>
      </p:sp>
      <p:sp>
        <p:nvSpPr>
          <p:cNvPr id="10" name="Prompts"/>
          <p:cNvSpPr txBox="1"/>
          <p:nvPr/>
        </p:nvSpPr>
        <p:spPr>
          <a:xfrm>
            <a:off x="452120" y="1905000"/>
            <a:ext cx="113487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sz="2000" b="1"/>
              <a:t>Existing scenario and background</a:t>
            </a:r>
            <a:endParaRPr lang="en-US" sz="2000" b="1">
              <a:ea typeface="Calibri"/>
              <a:cs typeface="Calibri"/>
            </a:endParaRPr>
          </a:p>
          <a:p>
            <a:pPr marL="285750" indent="-285750">
              <a:spcAft>
                <a:spcPts val="100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Jet engines are engineered for high-altitude cruise, making low-speed tarmac taxiing highly inefficient. The stop-and-go traffic of ground operations forces massive, unnecessary fuel burn. Minimizing this ground wastage directly preserves fuel to extend the aircraft's cruising range.</a:t>
            </a:r>
            <a:endParaRPr lang="en-US">
              <a:ea typeface="Calibri"/>
              <a:cs typeface="Calibri"/>
            </a:endParaRP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sz="2000" b="1"/>
              <a:t>Relevant data or facts </a:t>
            </a:r>
            <a:endParaRPr lang="en-US" sz="2000" b="1">
              <a:ea typeface="Calibri"/>
              <a:cs typeface="Calibri"/>
            </a:endParaRPr>
          </a:p>
          <a:p>
            <a:pPr marL="285750" indent="-285750">
              <a:spcAft>
                <a:spcPts val="100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The proposed magneti</a:t>
            </a:r>
            <a:r>
              <a:rPr lang="en-US"/>
              <a:t>c</a:t>
            </a:r>
            <a:r>
              <a:rPr lang="en-US">
                <a:ea typeface="Calibri"/>
                <a:cs typeface="Calibri"/>
              </a:rPr>
              <a:t> receiver adds less than 50kg of total weight and it can be installed during a scheduled maintenance check.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lang="en-US" dirty="0">
                <a:ea typeface="Calibri"/>
                <a:cs typeface="Calibri"/>
              </a:rPr>
              <a:t>The </a:t>
            </a:r>
            <a:r>
              <a:rPr lang="en-US" dirty="0" err="1">
                <a:ea typeface="Calibri"/>
                <a:cs typeface="Calibri"/>
              </a:rPr>
              <a:t>MagTaxi</a:t>
            </a:r>
            <a:r>
              <a:rPr lang="en-US" dirty="0">
                <a:ea typeface="Calibri"/>
                <a:cs typeface="Calibri"/>
              </a:rPr>
              <a:t> plans to reduce fuel consumption by 90% on all ground operation.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sz="2000" b="1"/>
              <a:t>Current workflow, step by step</a:t>
            </a:r>
            <a:endParaRPr lang="en-US" sz="2000" b="1">
              <a:ea typeface="Calibri"/>
              <a:cs typeface="Calibri"/>
            </a:endParaRPr>
          </a:p>
          <a:p>
            <a:pPr marL="285750" indent="-285750">
              <a:spcAft>
                <a:spcPts val="1000"/>
              </a:spcAft>
              <a:buClr>
                <a:schemeClr val="accent1"/>
              </a:buClr>
              <a:buSzPct val="100000"/>
              <a:buFont typeface="Arial"/>
              <a:buChar char="•"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4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1A495B-8D22-ABB6-6F88-E175FA44C9D2}"/>
              </a:ext>
            </a:extLst>
          </p:cNvPr>
          <p:cNvSpPr/>
          <p:nvPr/>
        </p:nvSpPr>
        <p:spPr>
          <a:xfrm>
            <a:off x="508000" y="5151120"/>
            <a:ext cx="1849119" cy="1056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Main Engine start </a:t>
            </a:r>
            <a:r>
              <a:rPr lang="en-US">
                <a:solidFill>
                  <a:schemeClr val="bg1"/>
                </a:solidFill>
              </a:rPr>
              <a:t>for gate-to-</a:t>
            </a:r>
            <a:r>
              <a:rPr lang="en-US" dirty="0">
                <a:solidFill>
                  <a:schemeClr val="bg1"/>
                </a:solidFill>
              </a:rPr>
              <a:t>runway transit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D8CC65-4D68-F109-1167-933B5BCA5F29}"/>
              </a:ext>
            </a:extLst>
          </p:cNvPr>
          <p:cNvSpPr/>
          <p:nvPr/>
        </p:nvSpPr>
        <p:spPr>
          <a:xfrm>
            <a:off x="2956559" y="5161280"/>
            <a:ext cx="1818639" cy="1046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Low speed taxi causes excessive fuel burn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DBDA9D-FD42-3306-687F-122F6779C6E9}"/>
              </a:ext>
            </a:extLst>
          </p:cNvPr>
          <p:cNvSpPr/>
          <p:nvPr/>
        </p:nvSpPr>
        <p:spPr>
          <a:xfrm>
            <a:off x="5364479" y="5161280"/>
            <a:ext cx="1798319" cy="1046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Debris ingestion could risk engine damage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AAB8A7-9FAE-464A-0AE8-2B6452544BB3}"/>
              </a:ext>
            </a:extLst>
          </p:cNvPr>
          <p:cNvSpPr/>
          <p:nvPr/>
        </p:nvSpPr>
        <p:spPr>
          <a:xfrm>
            <a:off x="7711439" y="5171440"/>
            <a:ext cx="1828799" cy="1046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Stop and go traffic also causes fuel burn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46AA6BE-E6D6-DAF9-30DF-462CE81728FB}"/>
              </a:ext>
            </a:extLst>
          </p:cNvPr>
          <p:cNvSpPr/>
          <p:nvPr/>
        </p:nvSpPr>
        <p:spPr>
          <a:xfrm>
            <a:off x="10099040" y="5181600"/>
            <a:ext cx="1879599" cy="1046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Causes local pollution and inefficient use of fuel 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FD859BD3-21C6-6EEF-2CCB-32080EA56E1A}"/>
              </a:ext>
            </a:extLst>
          </p:cNvPr>
          <p:cNvSpPr/>
          <p:nvPr/>
        </p:nvSpPr>
        <p:spPr>
          <a:xfrm>
            <a:off x="2397759" y="5557519"/>
            <a:ext cx="528320" cy="254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5BB43EEC-4640-C7AA-D9EC-A49FB6C1B1F6}"/>
              </a:ext>
            </a:extLst>
          </p:cNvPr>
          <p:cNvSpPr/>
          <p:nvPr/>
        </p:nvSpPr>
        <p:spPr>
          <a:xfrm>
            <a:off x="4815838" y="5567678"/>
            <a:ext cx="548640" cy="2336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64D48257-EEC7-D5AB-0A23-DF415FFD33B1}"/>
              </a:ext>
            </a:extLst>
          </p:cNvPr>
          <p:cNvSpPr/>
          <p:nvPr/>
        </p:nvSpPr>
        <p:spPr>
          <a:xfrm>
            <a:off x="7162797" y="5577837"/>
            <a:ext cx="548640" cy="2336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A989AB6F-8F39-7DA6-5133-D35D9AB3EF6D}"/>
              </a:ext>
            </a:extLst>
          </p:cNvPr>
          <p:cNvSpPr/>
          <p:nvPr/>
        </p:nvSpPr>
        <p:spPr>
          <a:xfrm>
            <a:off x="9540237" y="5577837"/>
            <a:ext cx="558800" cy="254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kern="0" spc="100">
                <a:latin typeface="Cambria"/>
                <a:ea typeface="Cambria"/>
              </a:rPr>
              <a:t>KEY </a:t>
            </a:r>
            <a:r>
              <a:rPr lang="en-US">
                <a:latin typeface="Cambria"/>
                <a:ea typeface="Cambria"/>
              </a:rPr>
              <a:t>CHALLENGES</a:t>
            </a:r>
            <a:endParaRPr lang="en-US" sz="240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>
                <a:solidFill>
                  <a:schemeClr val="accent5"/>
                </a:solidFill>
              </a:rPr>
              <a:t>TEAM</a:t>
            </a:r>
            <a:endParaRPr lang="en-US" sz="900"/>
          </a:p>
          <a:p>
            <a:pPr marL="0" indent="0">
              <a:buNone/>
            </a:pPr>
            <a:r>
              <a:rPr lang="en-US" sz="1500" b="1">
                <a:solidFill>
                  <a:schemeClr val="accent1"/>
                </a:solidFill>
              </a:rPr>
              <a:t>Aviators</a:t>
            </a:r>
            <a:endParaRPr lang="en-US" sz="90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chemeClr val="accent2"/>
                </a:solidFill>
              </a:rPr>
              <a:t>Main difficulties, bottlenecks, root causes and consequences</a:t>
            </a:r>
            <a:endParaRPr lang="en-US" sz="1800"/>
          </a:p>
        </p:txBody>
      </p:sp>
      <p:sp>
        <p:nvSpPr>
          <p:cNvPr id="10" name="Prompts"/>
          <p:cNvSpPr txBox="1"/>
          <p:nvPr/>
        </p:nvSpPr>
        <p:spPr>
          <a:xfrm>
            <a:off x="457200" y="1910080"/>
            <a:ext cx="11729720" cy="440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buClr>
                <a:schemeClr val="accent1"/>
              </a:buClr>
              <a:buSzPct val="100000"/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    </a:t>
            </a:r>
            <a:r>
              <a:rPr lang="en-US" sz="2000" b="1">
                <a:ea typeface="+mn-lt"/>
                <a:cs typeface="+mn-lt"/>
              </a:rPr>
              <a:t>Main difficulties and bottlenecks: </a:t>
            </a:r>
            <a:endParaRPr lang="en-US" sz="2000">
              <a:ea typeface="Calibri"/>
              <a:cs typeface="Calibri"/>
            </a:endParaRPr>
          </a:p>
          <a:p>
            <a:pPr algn="just">
              <a:buClr>
                <a:schemeClr val="accent1"/>
              </a:buClr>
              <a:buSzPct val="100000"/>
              <a:buFont typeface="Arial"/>
              <a:buChar char="•"/>
            </a:pPr>
            <a:endParaRPr lang="en-US" sz="600">
              <a:ea typeface="+mn-lt"/>
              <a:cs typeface="+mn-lt"/>
            </a:endParaRPr>
          </a:p>
          <a:p>
            <a:pPr algn="just">
              <a:buClr>
                <a:schemeClr val="accent1"/>
              </a:buClr>
              <a:buSzPct val="100000"/>
            </a:pPr>
            <a:r>
              <a:rPr lang="en-US" dirty="0">
                <a:ea typeface="+mn-lt"/>
                <a:cs typeface="+mn-lt"/>
              </a:rPr>
              <a:t>(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) </a:t>
            </a:r>
            <a:r>
              <a:rPr lang="en-US" b="1" dirty="0">
                <a:ea typeface="+mn-lt"/>
                <a:cs typeface="+mn-lt"/>
              </a:rPr>
              <a:t>Fuel waste</a:t>
            </a:r>
            <a:r>
              <a:rPr lang="en-US" dirty="0">
                <a:ea typeface="+mn-lt"/>
                <a:cs typeface="+mn-lt"/>
              </a:rPr>
              <a:t>- Commercial jets consume massive amounts of aviation fuel by simply moving between the runway and gates.</a:t>
            </a:r>
          </a:p>
          <a:p>
            <a:pPr algn="just"/>
            <a:endParaRPr lang="en-US" sz="600">
              <a:ea typeface="Calibri"/>
              <a:cs typeface="Calibri"/>
            </a:endParaRPr>
          </a:p>
          <a:p>
            <a:pPr algn="just">
              <a:buClr>
                <a:schemeClr val="accent1"/>
              </a:buClr>
              <a:buSzPct val="100000"/>
            </a:pPr>
            <a:r>
              <a:rPr lang="en-US" dirty="0">
                <a:ea typeface="+mn-lt"/>
                <a:cs typeface="+mn-lt"/>
              </a:rPr>
              <a:t>(ii) </a:t>
            </a:r>
            <a:r>
              <a:rPr lang="en-US" b="1" dirty="0">
                <a:ea typeface="+mn-lt"/>
                <a:cs typeface="+mn-lt"/>
              </a:rPr>
              <a:t>Maintenance costs</a:t>
            </a:r>
            <a:r>
              <a:rPr lang="en-US">
                <a:ea typeface="+mn-lt"/>
                <a:cs typeface="+mn-lt"/>
              </a:rPr>
              <a:t>- Ground taxiing i</a:t>
            </a:r>
            <a:r>
              <a:rPr lang="en-US" dirty="0">
                <a:ea typeface="+mn-lt"/>
                <a:cs typeface="+mn-lt"/>
              </a:rPr>
              <a:t>ncreases the overall operation hours raising the maintenance costs. </a:t>
            </a:r>
          </a:p>
          <a:p>
            <a:pPr algn="just"/>
            <a:endParaRPr lang="en-US" sz="600">
              <a:ea typeface="+mn-lt"/>
              <a:cs typeface="+mn-lt"/>
            </a:endParaRPr>
          </a:p>
          <a:p>
            <a:pPr algn="just">
              <a:buClr>
                <a:schemeClr val="accent1"/>
              </a:buClr>
              <a:buSzPct val="100000"/>
            </a:pPr>
            <a:r>
              <a:rPr lang="en-US" dirty="0">
                <a:ea typeface="+mn-lt"/>
                <a:cs typeface="+mn-lt"/>
              </a:rPr>
              <a:t>(iii)</a:t>
            </a:r>
            <a:r>
              <a:rPr lang="en-US" b="1" dirty="0">
                <a:ea typeface="+mn-lt"/>
                <a:cs typeface="+mn-lt"/>
              </a:rPr>
              <a:t> Air and noise pollution</a:t>
            </a:r>
            <a:r>
              <a:rPr lang="en-US">
                <a:ea typeface="+mn-lt"/>
                <a:cs typeface="+mn-lt"/>
              </a:rPr>
              <a:t>- Continuous usage generates toxic emissions (CO2,NOx) along with ground noise. </a:t>
            </a:r>
            <a:endParaRPr lang="en-US">
              <a:ea typeface="Calibri"/>
              <a:cs typeface="Calibri"/>
            </a:endParaRPr>
          </a:p>
          <a:p>
            <a:pPr algn="just">
              <a:buClr>
                <a:schemeClr val="accent1"/>
              </a:buClr>
              <a:buSzPct val="100000"/>
              <a:buFont typeface="Arial"/>
              <a:buChar char="•"/>
            </a:pPr>
            <a:endParaRPr lang="en-US" sz="1100">
              <a:ea typeface="Calibri"/>
              <a:cs typeface="Calibri"/>
            </a:endParaRPr>
          </a:p>
          <a:p>
            <a:pPr algn="just">
              <a:buClr>
                <a:schemeClr val="accent1"/>
              </a:buClr>
              <a:buSzPct val="100000"/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   </a:t>
            </a:r>
            <a:r>
              <a:rPr lang="en-US" sz="2000" b="1">
                <a:ea typeface="+mn-lt"/>
                <a:cs typeface="+mn-lt"/>
              </a:rPr>
              <a:t> Root causes behind them:</a:t>
            </a:r>
            <a:r>
              <a:rPr lang="en-US" sz="2000" dirty="0">
                <a:ea typeface="+mn-lt"/>
                <a:cs typeface="+mn-lt"/>
              </a:rPr>
              <a:t> </a:t>
            </a:r>
            <a:endParaRPr lang="en-US" sz="2000" dirty="0">
              <a:ea typeface="Calibri"/>
              <a:cs typeface="Calibri"/>
            </a:endParaRPr>
          </a:p>
          <a:p>
            <a:pPr algn="just">
              <a:buClr>
                <a:schemeClr val="accent1"/>
              </a:buClr>
              <a:buSzPct val="100000"/>
              <a:buFont typeface="Arial"/>
              <a:buChar char="•"/>
            </a:pPr>
            <a:endParaRPr lang="en-US" sz="600">
              <a:ea typeface="+mn-lt"/>
              <a:cs typeface="+mn-lt"/>
            </a:endParaRPr>
          </a:p>
          <a:p>
            <a:pPr algn="just">
              <a:buClr>
                <a:schemeClr val="accent1"/>
              </a:buClr>
              <a:buSzPct val="100000"/>
            </a:pPr>
            <a:r>
              <a:rPr lang="en-US" dirty="0">
                <a:ea typeface="+mn-lt"/>
                <a:cs typeface="+mn-lt"/>
              </a:rPr>
              <a:t>(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) </a:t>
            </a:r>
            <a:r>
              <a:rPr lang="en-US" b="1" dirty="0">
                <a:ea typeface="+mn-lt"/>
                <a:cs typeface="+mn-lt"/>
              </a:rPr>
              <a:t>Sub-Optimal Operation</a:t>
            </a:r>
            <a:r>
              <a:rPr lang="en-US" dirty="0">
                <a:ea typeface="+mn-lt"/>
                <a:cs typeface="+mn-lt"/>
              </a:rPr>
              <a:t>: Jet engines are designed for high-altitude, high-speed flight. Operating them at low speeds causes</a:t>
            </a:r>
            <a:endParaRPr lang="en-US" dirty="0">
              <a:ea typeface="Calibri"/>
              <a:cs typeface="Calibri"/>
            </a:endParaRPr>
          </a:p>
          <a:p>
            <a:pPr algn="just">
              <a:buClr>
                <a:schemeClr val="accent1"/>
              </a:buClr>
              <a:buSzPct val="100000"/>
            </a:pPr>
            <a:r>
              <a:rPr lang="en-US">
                <a:ea typeface="+mn-lt"/>
                <a:cs typeface="+mn-lt"/>
              </a:rPr>
              <a:t>thermodynamic inefficiency. </a:t>
            </a:r>
            <a:endParaRPr lang="en-US">
              <a:ea typeface="Calibri"/>
              <a:cs typeface="Calibri"/>
            </a:endParaRPr>
          </a:p>
          <a:p>
            <a:pPr algn="just"/>
            <a:endParaRPr lang="en-US" sz="600">
              <a:ea typeface="+mn-lt"/>
              <a:cs typeface="+mn-lt"/>
            </a:endParaRPr>
          </a:p>
          <a:p>
            <a:pPr algn="just">
              <a:buClr>
                <a:schemeClr val="accent1"/>
              </a:buClr>
              <a:buSzPct val="100000"/>
            </a:pPr>
            <a:r>
              <a:rPr lang="en-US" dirty="0">
                <a:ea typeface="+mn-lt"/>
                <a:cs typeface="+mn-lt"/>
              </a:rPr>
              <a:t>(ii)</a:t>
            </a:r>
            <a:r>
              <a:rPr lang="en-US" b="1" dirty="0">
                <a:ea typeface="+mn-lt"/>
                <a:cs typeface="+mn-lt"/>
              </a:rPr>
              <a:t> Braking Wear</a:t>
            </a:r>
            <a:r>
              <a:rPr lang="en-US">
                <a:ea typeface="+mn-lt"/>
                <a:cs typeface="+mn-lt"/>
              </a:rPr>
              <a:t>: Relying on traditional friction-based disk brakes to slow heavy aircraft on taxiways causes excessive wear.</a:t>
            </a:r>
            <a:endParaRPr lang="en-US">
              <a:ea typeface="Calibri"/>
              <a:cs typeface="Calibri"/>
            </a:endParaRPr>
          </a:p>
          <a:p>
            <a:pPr algn="just">
              <a:buClr>
                <a:schemeClr val="accent1"/>
              </a:buClr>
              <a:buSzPct val="100000"/>
              <a:buFont typeface="Arial"/>
              <a:buChar char="•"/>
            </a:pPr>
            <a:endParaRPr lang="en-US" sz="1200">
              <a:ea typeface="Calibri"/>
              <a:cs typeface="Calibri"/>
            </a:endParaRPr>
          </a:p>
          <a:p>
            <a:pPr algn="just">
              <a:buClr>
                <a:schemeClr val="accent1"/>
              </a:buClr>
              <a:buSzPct val="100000"/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   </a:t>
            </a:r>
            <a:r>
              <a:rPr lang="en-US" sz="2000" b="1">
                <a:ea typeface="+mn-lt"/>
                <a:cs typeface="+mn-lt"/>
              </a:rPr>
              <a:t>Consequences of leaving them unsolved: </a:t>
            </a:r>
            <a:endParaRPr lang="en-US" sz="2000" b="1">
              <a:ea typeface="Calibri"/>
              <a:cs typeface="Calibri"/>
            </a:endParaRPr>
          </a:p>
          <a:p>
            <a:pPr algn="just">
              <a:buClr>
                <a:schemeClr val="accent1"/>
              </a:buClr>
              <a:buSzPct val="100000"/>
              <a:buFont typeface="Arial"/>
              <a:buChar char="•"/>
            </a:pPr>
            <a:endParaRPr lang="en-US" sz="600" b="1">
              <a:ea typeface="+mn-lt"/>
              <a:cs typeface="+mn-lt"/>
            </a:endParaRPr>
          </a:p>
          <a:p>
            <a:pPr algn="just">
              <a:buClr>
                <a:schemeClr val="accent1"/>
              </a:buClr>
              <a:buSzPct val="100000"/>
            </a:pPr>
            <a:r>
              <a:rPr lang="en-US" dirty="0">
                <a:ea typeface="+mn-lt"/>
                <a:cs typeface="+mn-lt"/>
              </a:rPr>
              <a:t>(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) </a:t>
            </a:r>
            <a:r>
              <a:rPr lang="en-US" b="1" dirty="0">
                <a:ea typeface="+mn-lt"/>
                <a:cs typeface="+mn-lt"/>
              </a:rPr>
              <a:t>Failure to Meet Sustainability Goals: </a:t>
            </a:r>
            <a:r>
              <a:rPr lang="en-US" dirty="0">
                <a:ea typeface="+mn-lt"/>
                <a:cs typeface="+mn-lt"/>
              </a:rPr>
              <a:t>Airlines will fail to achieve their target carbon reduction goals. </a:t>
            </a:r>
            <a:endParaRPr lang="en-US" dirty="0">
              <a:ea typeface="Calibri"/>
              <a:cs typeface="Calibri"/>
            </a:endParaRPr>
          </a:p>
          <a:p>
            <a:pPr algn="just"/>
            <a:endParaRPr lang="en-US" sz="600">
              <a:ea typeface="+mn-lt"/>
              <a:cs typeface="+mn-lt"/>
            </a:endParaRPr>
          </a:p>
          <a:p>
            <a:pPr algn="just"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dirty="0">
                <a:ea typeface="+mn-lt"/>
                <a:cs typeface="+mn-lt"/>
              </a:rPr>
              <a:t>(ii)</a:t>
            </a:r>
            <a:r>
              <a:rPr lang="en-US" b="1" dirty="0">
                <a:ea typeface="+mn-lt"/>
                <a:cs typeface="+mn-lt"/>
              </a:rPr>
              <a:t> Escalating Airline Costs:</a:t>
            </a:r>
            <a:r>
              <a:rPr lang="en-US" dirty="0">
                <a:ea typeface="+mn-lt"/>
                <a:cs typeface="+mn-lt"/>
              </a:rPr>
              <a:t> Increased fuel burn and shortened engine lifespans significantly </a:t>
            </a:r>
            <a:r>
              <a:rPr lang="en-US">
                <a:ea typeface="+mn-lt"/>
                <a:cs typeface="+mn-lt"/>
              </a:rPr>
              <a:t>drive-up</a:t>
            </a:r>
            <a:r>
              <a:rPr lang="en-US" dirty="0">
                <a:ea typeface="+mn-lt"/>
                <a:cs typeface="+mn-lt"/>
              </a:rPr>
              <a:t> operating costs. </a:t>
            </a:r>
            <a:endParaRPr lang="en-US" dirty="0">
              <a:ea typeface="Calibri"/>
              <a:cs typeface="Calibri"/>
            </a:endParaRPr>
          </a:p>
          <a:p>
            <a:pPr algn="just">
              <a:spcAft>
                <a:spcPts val="1000"/>
              </a:spcAft>
              <a:buClr>
                <a:srgbClr val="026855"/>
              </a:buClr>
              <a:buSzPct val="100000"/>
            </a:pPr>
            <a:endParaRPr lang="en-US">
              <a:ea typeface="Calibri"/>
              <a:cs typeface="Calibri"/>
            </a:endParaRPr>
          </a:p>
          <a:p>
            <a:pPr algn="just">
              <a:spcAft>
                <a:spcPts val="1000"/>
              </a:spcAft>
            </a:pPr>
            <a:r>
              <a:rPr lang="en-US" dirty="0">
                <a:ea typeface="Calibri"/>
                <a:cs typeface="Calibri"/>
              </a:rPr>
              <a:t>      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SOLUTIONS / APPROACHES</a:t>
            </a:r>
            <a:endParaRPr lang="en-US" sz="240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>
                <a:solidFill>
                  <a:schemeClr val="accent5"/>
                </a:solidFill>
              </a:rPr>
              <a:t>TEAM</a:t>
            </a:r>
            <a:endParaRPr lang="en-US" sz="900"/>
          </a:p>
          <a:p>
            <a:pPr marL="0" indent="0">
              <a:buNone/>
            </a:pPr>
            <a:r>
              <a:rPr lang="en-US" sz="1500" b="1">
                <a:solidFill>
                  <a:schemeClr val="accent1"/>
                </a:solidFill>
              </a:rPr>
              <a:t>Aviators</a:t>
            </a:r>
            <a:endParaRPr lang="en-US" sz="90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chemeClr val="accent2"/>
                </a:solidFill>
              </a:rPr>
              <a:t>What is already being done, and where it falls short</a:t>
            </a:r>
            <a:endParaRPr lang="en-US" sz="1800"/>
          </a:p>
        </p:txBody>
      </p:sp>
      <p:sp>
        <p:nvSpPr>
          <p:cNvPr id="10" name="Prompts"/>
          <p:cNvSpPr txBox="1"/>
          <p:nvPr/>
        </p:nvSpPr>
        <p:spPr>
          <a:xfrm>
            <a:off x="533400" y="4485640"/>
            <a:ext cx="10434320" cy="1442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sz="1800" b="1"/>
              <a:t>The </a:t>
            </a:r>
            <a:r>
              <a:rPr lang="en-US" b="1"/>
              <a:t>Gap</a:t>
            </a:r>
            <a:r>
              <a:rPr lang="en-US" sz="1800" b="1"/>
              <a:t> </a:t>
            </a:r>
            <a:r>
              <a:rPr lang="en-US" b="1"/>
              <a:t>They</a:t>
            </a:r>
            <a:r>
              <a:rPr lang="en-US" sz="1800" b="1"/>
              <a:t> </a:t>
            </a:r>
            <a:r>
              <a:rPr lang="en-US" b="1"/>
              <a:t>Leave</a:t>
            </a:r>
            <a:r>
              <a:rPr lang="en-US" sz="1800" b="1"/>
              <a:t> </a:t>
            </a:r>
            <a:r>
              <a:rPr lang="en-US" b="1"/>
              <a:t>Open</a:t>
            </a:r>
            <a:r>
              <a:rPr lang="en-US" sz="1800" b="1"/>
              <a:t> (Key Challenges)</a:t>
            </a:r>
            <a:endParaRPr lang="en-US" b="1">
              <a:ea typeface="Calibri"/>
              <a:cs typeface="Calibri"/>
            </a:endParaRPr>
          </a:p>
          <a:p>
            <a:pPr marL="342900" indent="-342900">
              <a:spcAft>
                <a:spcPts val="1000"/>
              </a:spcAft>
              <a:buAutoNum type="arabicPeriod"/>
            </a:pPr>
            <a:r>
              <a:rPr lang="en-US">
                <a:ea typeface="+mn-lt"/>
                <a:cs typeface="+mn-lt"/>
              </a:rPr>
              <a:t>The "Cold Engine" Problem </a:t>
            </a:r>
          </a:p>
          <a:p>
            <a:pPr>
              <a:spcAft>
                <a:spcPts val="1000"/>
              </a:spcAft>
            </a:pPr>
            <a:r>
              <a:rPr lang="en-US">
                <a:ea typeface="+mn-lt"/>
                <a:cs typeface="+mn-lt"/>
              </a:rPr>
              <a:t>2.   The "Universal Plug" Problem (Interoperability)</a:t>
            </a:r>
            <a:endParaRPr lang="en-US"/>
          </a:p>
          <a:p>
            <a:pPr>
              <a:spcAft>
                <a:spcPts val="1000"/>
              </a:spcAft>
            </a:pPr>
            <a:r>
              <a:rPr lang="en-US">
                <a:ea typeface="+mn-lt"/>
                <a:cs typeface="+mn-lt"/>
              </a:rPr>
              <a:t>3.   Peak Electrical Grid Surges</a:t>
            </a:r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6</a:t>
            </a:fld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628EAD8-3565-45A1-1CD8-91BD789F70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3077209"/>
              </p:ext>
            </p:extLst>
          </p:nvPr>
        </p:nvGraphicFramePr>
        <p:xfrm>
          <a:off x="544830" y="2006467"/>
          <a:ext cx="11218004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72050">
                  <a:extLst>
                    <a:ext uri="{9D8B030D-6E8A-4147-A177-3AD203B41FA5}">
                      <a16:colId xmlns:a16="http://schemas.microsoft.com/office/drawing/2014/main" val="3669468986"/>
                    </a:ext>
                  </a:extLst>
                </a:gridCol>
                <a:gridCol w="6245954">
                  <a:extLst>
                    <a:ext uri="{9D8B030D-6E8A-4147-A177-3AD203B41FA5}">
                      <a16:colId xmlns:a16="http://schemas.microsoft.com/office/drawing/2014/main" val="1013232633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0" i="0" u="none" strike="noStrike">
                          <a:solidFill>
                            <a:srgbClr val="0E2A2F"/>
                          </a:solidFill>
                          <a:effectLst/>
                          <a:latin typeface="Calibri"/>
                        </a:rPr>
                        <a:t>Existing methods/systems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2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5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0" i="0" u="none" strike="noStrike">
                          <a:solidFill>
                            <a:srgbClr val="0E2A2F"/>
                          </a:solidFill>
                          <a:effectLst/>
                          <a:latin typeface="Calibri"/>
                        </a:rPr>
                        <a:t>Limitations</a:t>
                      </a:r>
                      <a:endParaRPr lang="en-US" sz="1800" b="0" i="0" u="none" strike="noStrike" kern="1200">
                        <a:solidFill>
                          <a:srgbClr val="0E2A2F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5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68764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0" i="0" u="none" strike="noStrike">
                          <a:solidFill>
                            <a:srgbClr val="0E2A2F"/>
                          </a:solidFill>
                          <a:effectLst/>
                          <a:latin typeface="Calibri" panose="020F0502020204030204" pitchFamily="34" charset="0"/>
                        </a:rPr>
                        <a:t>Traditional Main Engine</a:t>
                      </a:r>
                      <a:endParaRPr lang="en-US" b="0" i="0">
                        <a:solidFill>
                          <a:srgbClr val="0E2A2F"/>
                        </a:solidFill>
                        <a:effectLst/>
                      </a:endParaRPr>
                    </a:p>
                  </a:txBody>
                  <a:tcPr>
                    <a:lnL w="12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5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0" i="0" u="none" strike="noStrike">
                          <a:solidFill>
                            <a:srgbClr val="0E2A2F"/>
                          </a:solidFill>
                          <a:effectLst/>
                          <a:latin typeface="Calibri" panose="020F0502020204030204" pitchFamily="34" charset="0"/>
                        </a:rPr>
                        <a:t>Inefficient at low speeds, high aviation fuel waste, high risk of Foreign Object Debris (FOD) damage, severe air/noise pollution</a:t>
                      </a:r>
                      <a:endParaRPr lang="en-US" b="0" i="0">
                        <a:solidFill>
                          <a:srgbClr val="0E2A2F"/>
                        </a:solidFill>
                        <a:effectLst/>
                      </a:endParaRPr>
                    </a:p>
                  </a:txBody>
                  <a:tcPr>
                    <a:lnL w="12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5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724694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0" i="0" u="none" strike="noStrike">
                          <a:solidFill>
                            <a:srgbClr val="0E2A2F"/>
                          </a:solidFill>
                          <a:effectLst/>
                          <a:latin typeface="Calibri"/>
                        </a:rPr>
                        <a:t>Tow-Tractors (e.g., </a:t>
                      </a:r>
                      <a:r>
                        <a:rPr lang="en-US" sz="1800" b="0" i="0" u="none" strike="noStrike" err="1">
                          <a:solidFill>
                            <a:srgbClr val="0E2A2F"/>
                          </a:solidFill>
                          <a:effectLst/>
                          <a:latin typeface="Calibri"/>
                        </a:rPr>
                        <a:t>TaxiBot</a:t>
                      </a:r>
                      <a:r>
                        <a:rPr lang="en-US" sz="1800" b="0" i="0" u="none" strike="noStrike">
                          <a:solidFill>
                            <a:srgbClr val="0E2A2F"/>
                          </a:solidFill>
                          <a:effectLst/>
                          <a:latin typeface="Calibri"/>
                        </a:rPr>
                        <a:t>)</a:t>
                      </a:r>
                      <a:endParaRPr lang="en-US" b="0" i="0">
                        <a:solidFill>
                          <a:srgbClr val="0E2A2F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lnL w="12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0" i="0" u="none" strike="noStrike">
                          <a:solidFill>
                            <a:srgbClr val="0E2A2F"/>
                          </a:solidFill>
                          <a:effectLst/>
                          <a:latin typeface="Calibri" panose="020F0502020204030204" pitchFamily="34" charset="0"/>
                        </a:rPr>
                        <a:t>Increases vehicle traffic on the apron, requires manual labor for connection, slower turnaround times.</a:t>
                      </a:r>
                      <a:endParaRPr lang="en-US" b="0" i="0">
                        <a:solidFill>
                          <a:srgbClr val="0E2A2F"/>
                        </a:solidFill>
                        <a:effectLst/>
                      </a:endParaRPr>
                    </a:p>
                  </a:txBody>
                  <a:tcPr>
                    <a:lnL w="12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863071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0" i="0" u="none" strike="noStrike">
                          <a:solidFill>
                            <a:srgbClr val="0E2A2F"/>
                          </a:solidFill>
                          <a:effectLst/>
                          <a:latin typeface="Calibri"/>
                        </a:rPr>
                        <a:t>On-Board Motors (e.g., </a:t>
                      </a:r>
                      <a:r>
                        <a:rPr lang="en-US" sz="1800" b="0" i="0" u="none" strike="noStrike" err="1">
                          <a:solidFill>
                            <a:srgbClr val="0E2A2F"/>
                          </a:solidFill>
                          <a:effectLst/>
                          <a:latin typeface="Calibri"/>
                        </a:rPr>
                        <a:t>WheelTug</a:t>
                      </a:r>
                      <a:r>
                        <a:rPr lang="en-US" sz="1800" b="0" i="0" u="none" strike="noStrike">
                          <a:solidFill>
                            <a:srgbClr val="0E2A2F"/>
                          </a:solidFill>
                          <a:effectLst/>
                          <a:latin typeface="Calibri"/>
                        </a:rPr>
                        <a:t>)</a:t>
                      </a:r>
                      <a:endParaRPr lang="en-US" b="0" i="0">
                        <a:solidFill>
                          <a:srgbClr val="0E2A2F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lnL w="12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800" b="0" i="0" u="none" strike="noStrike">
                          <a:solidFill>
                            <a:srgbClr val="0E2A2F"/>
                          </a:solidFill>
                          <a:effectLst/>
                          <a:latin typeface="Calibri" panose="020F0502020204030204" pitchFamily="34" charset="0"/>
                        </a:rPr>
                        <a:t>Adds permanent heavy motors to the landing gear, increasing aircraft weight and reducing flight range/payload capacity.</a:t>
                      </a:r>
                      <a:endParaRPr lang="en-US" b="0" i="0">
                        <a:solidFill>
                          <a:srgbClr val="0E2A2F"/>
                        </a:solidFill>
                        <a:effectLst/>
                      </a:endParaRPr>
                    </a:p>
                  </a:txBody>
                  <a:tcPr>
                    <a:lnL w="12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836166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INSIGHTS &amp; OPPORTUNITY AREAS</a:t>
            </a:r>
            <a:endParaRPr lang="en-US" sz="240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>
                <a:solidFill>
                  <a:schemeClr val="accent5"/>
                </a:solidFill>
              </a:rPr>
              <a:t>TEAM</a:t>
            </a:r>
            <a:endParaRPr lang="en-US" sz="900"/>
          </a:p>
          <a:p>
            <a:pPr marL="0" indent="0">
              <a:buNone/>
            </a:pPr>
            <a:r>
              <a:rPr lang="en-US" sz="1500" b="1">
                <a:solidFill>
                  <a:schemeClr val="accent1"/>
                </a:solidFill>
              </a:rPr>
              <a:t>Aviators</a:t>
            </a:r>
            <a:endParaRPr lang="en-US" sz="90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chemeClr val="accent2"/>
                </a:solidFill>
              </a:rPr>
              <a:t>Resources required to solve the problem</a:t>
            </a:r>
            <a:endParaRPr lang="en-US" sz="1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7</a:t>
            </a:fld>
            <a:endParaRPr lang="en-US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7C974AE-A10D-B189-7AAA-89C90A1B0B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4808980"/>
              </p:ext>
            </p:extLst>
          </p:nvPr>
        </p:nvGraphicFramePr>
        <p:xfrm>
          <a:off x="457200" y="2072640"/>
          <a:ext cx="11591859" cy="4003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5295">
                  <a:extLst>
                    <a:ext uri="{9D8B030D-6E8A-4147-A177-3AD203B41FA5}">
                      <a16:colId xmlns:a16="http://schemas.microsoft.com/office/drawing/2014/main" val="2189172669"/>
                    </a:ext>
                  </a:extLst>
                </a:gridCol>
                <a:gridCol w="3714892">
                  <a:extLst>
                    <a:ext uri="{9D8B030D-6E8A-4147-A177-3AD203B41FA5}">
                      <a16:colId xmlns:a16="http://schemas.microsoft.com/office/drawing/2014/main" val="1390451490"/>
                    </a:ext>
                  </a:extLst>
                </a:gridCol>
                <a:gridCol w="4121672">
                  <a:extLst>
                    <a:ext uri="{9D8B030D-6E8A-4147-A177-3AD203B41FA5}">
                      <a16:colId xmlns:a16="http://schemas.microsoft.com/office/drawing/2014/main" val="3177451234"/>
                    </a:ext>
                  </a:extLst>
                </a:gridCol>
              </a:tblGrid>
              <a:tr h="559915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tx1"/>
                          </a:solidFill>
                        </a:rPr>
                        <a:t>HARDWARE REQUIREMENTS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SOFTWARE REQUIREMENTS</a:t>
                      </a:r>
                      <a:endParaRPr lang="en-US"/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tx1"/>
                          </a:solidFill>
                        </a:rPr>
                        <a:t>OTHER RESOURCES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2127853"/>
                  </a:ext>
                </a:extLst>
              </a:tr>
              <a:tr h="344390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Concrete-embedded Linear Induction Motor (LIM) tracks across main taxiways.</a:t>
                      </a:r>
                    </a:p>
                    <a:p>
                      <a:pPr lvl="0" algn="l">
                        <a:buNone/>
                      </a:pPr>
                      <a:endParaRPr lang="en-US" sz="1800" b="0" i="0" u="none" strike="noStrike" noProof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50 kg magnetic receivers with emergency quick-release on the nose landing gear.</a:t>
                      </a:r>
                      <a:endParaRPr lang="en-US"/>
                    </a:p>
                    <a:p>
                      <a:pPr lvl="0" algn="l">
                        <a:buNone/>
                      </a:pPr>
                      <a:endParaRPr lang="en-US" sz="1800" b="0" i="0" u="none" strike="noStrike" noProof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Contactless KERS magnetic brakes, dual power feeds, and terminal battery units. </a:t>
                      </a:r>
                      <a:endParaRPr lang="en-US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Centralized system managing real-time aircraft routing and taxiway traffic. </a:t>
                      </a:r>
                    </a:p>
                    <a:p>
                      <a:pPr lvl="0" algn="l">
                        <a:buNone/>
                      </a:pPr>
                      <a:endParaRPr lang="en-US" sz="1800" b="0" i="0" u="none" strike="noStrike" noProof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 algn="l">
                        <a:buNone/>
                      </a:pPr>
                      <a:r>
                        <a:rPr lang="en-US" sz="1800" b="0" i="0" u="none" strike="noStrike" noProof="0"/>
                        <a:t>Smart grid software routing KERS-recovered power to batteries or gate support. </a:t>
                      </a:r>
                    </a:p>
                    <a:p>
                      <a:pPr lvl="0" algn="l">
                        <a:buNone/>
                      </a:pPr>
                      <a:endParaRPr lang="en-US" sz="1800" b="0" i="0" u="none" strike="noStrike" noProof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Real-time monitoring logic to initiate instant disconnect during power grid loss.</a:t>
                      </a:r>
                      <a:endParaRPr lang="en-US"/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 dirty="0">
                          <a:latin typeface="Calibri"/>
                          <a:ea typeface="Calibri"/>
                          <a:cs typeface="Calibri"/>
                        </a:rPr>
                        <a:t>High initial </a:t>
                      </a:r>
                      <a:r>
                        <a:rPr lang="en-US" sz="1800" b="0" i="0" u="none" strike="noStrike" noProof="0" dirty="0" err="1">
                          <a:latin typeface="Calibri"/>
                          <a:ea typeface="Calibri"/>
                          <a:cs typeface="Calibri"/>
                        </a:rPr>
                        <a:t>CapEx</a:t>
                      </a:r>
                      <a:r>
                        <a:rPr lang="en-US" sz="1800" b="0" i="0" u="none" strike="noStrike" noProof="0" dirty="0">
                          <a:latin typeface="Calibri"/>
                          <a:ea typeface="Calibri"/>
                          <a:cs typeface="Calibri"/>
                        </a:rPr>
                        <a:t> for phased ground construction and track installation</a:t>
                      </a:r>
                    </a:p>
                    <a:p>
                      <a:pPr lvl="0" algn="l">
                        <a:buNone/>
                      </a:pPr>
                      <a:endParaRPr lang="en-US" sz="1800" b="0" i="0" u="none" strike="noStrike" noProof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 algn="l">
                        <a:buNone/>
                      </a:pPr>
                      <a:r>
                        <a:rPr lang="en-US" sz="1800" b="0" i="0" u="none" strike="noStrike" noProof="0"/>
                        <a:t>Engineering and maintenance teams Such as Civil crews for taxiway builds and </a:t>
                      </a:r>
                      <a:r>
                        <a:rPr lang="en-US" sz="1800" b="0" i="0" u="none" strike="noStrike" noProof="0" dirty="0"/>
                        <a:t>avionics techs for 24-hour plane retrofits.</a:t>
                      </a:r>
                    </a:p>
                    <a:p>
                      <a:pPr lvl="0" algn="l">
                        <a:buNone/>
                      </a:pPr>
                      <a:endParaRPr lang="en-US" sz="1800" b="0" i="0" u="none" strike="noStrike" noProof="0"/>
                    </a:p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Regulatory liaisons like aviation safety </a:t>
                      </a:r>
                      <a:r>
                        <a:rPr lang="en-US" sz="1800" b="0" i="0" u="none" strike="noStrike" noProof="0" dirty="0">
                          <a:latin typeface="Calibri"/>
                          <a:ea typeface="Calibri"/>
                          <a:cs typeface="Calibri"/>
                        </a:rPr>
                        <a:t>officers to certify non-interference with radio/nav systems.</a:t>
                      </a:r>
                      <a:endParaRPr lang="en-US" dirty="0"/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41401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DIRECTION &amp; EXPECTED OUTCOME</a:t>
            </a:r>
            <a:endParaRPr lang="en-US" sz="240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>
                <a:solidFill>
                  <a:schemeClr val="accent5"/>
                </a:solidFill>
              </a:rPr>
              <a:t>TEAM</a:t>
            </a:r>
            <a:endParaRPr lang="en-US" sz="900"/>
          </a:p>
          <a:p>
            <a:pPr marL="0" indent="0">
              <a:buNone/>
            </a:pPr>
            <a:r>
              <a:rPr lang="en-US" sz="1500" b="1">
                <a:solidFill>
                  <a:schemeClr val="accent1"/>
                </a:solidFill>
              </a:rPr>
              <a:t>Aviators</a:t>
            </a:r>
            <a:endParaRPr lang="en-US" sz="90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chemeClr val="accent2"/>
                </a:solidFill>
              </a:rPr>
              <a:t>What Is Your Expected Outcome?</a:t>
            </a:r>
            <a:endParaRPr lang="en-US" sz="1800"/>
          </a:p>
        </p:txBody>
      </p:sp>
      <p:sp>
        <p:nvSpPr>
          <p:cNvPr id="10" name="Prompts"/>
          <p:cNvSpPr txBox="1"/>
          <p:nvPr/>
        </p:nvSpPr>
        <p:spPr>
          <a:xfrm>
            <a:off x="543560" y="2067560"/>
            <a:ext cx="11104880" cy="405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2000" b="1"/>
              <a:t>What your team intends to do</a:t>
            </a:r>
            <a:endParaRPr lang="en-US" sz="2000" b="1">
              <a:ea typeface="Calibri"/>
              <a:cs typeface="Calibri"/>
            </a:endParaRPr>
          </a:p>
          <a:p>
            <a:pPr>
              <a:spcAft>
                <a:spcPts val="1000"/>
              </a:spcAft>
            </a:pPr>
            <a:r>
              <a:rPr lang="en-US" dirty="0">
                <a:ea typeface="+mn-lt"/>
                <a:cs typeface="+mn-lt"/>
              </a:rPr>
              <a:t>We intend to design and implement Project </a:t>
            </a:r>
            <a:r>
              <a:rPr lang="en-US" dirty="0" err="1">
                <a:ea typeface="+mn-lt"/>
                <a:cs typeface="+mn-lt"/>
              </a:rPr>
              <a:t>MagTaxi</a:t>
            </a:r>
            <a:r>
              <a:rPr lang="en-US" dirty="0">
                <a:ea typeface="+mn-lt"/>
                <a:cs typeface="+mn-lt"/>
              </a:rPr>
              <a:t>, a fully automated magnetic induction surface mobility system embedded directly into airport taxiways that seamlessly moves aircraft to and from the terminal gates without ever using their main jet engines. </a:t>
            </a:r>
            <a:endParaRPr lang="en-US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2000" b="1"/>
              <a:t>What you want to improve</a:t>
            </a:r>
            <a:endParaRPr lang="en-US" sz="2000" b="1">
              <a:ea typeface="Calibri"/>
              <a:cs typeface="Calibri"/>
            </a:endParaRPr>
          </a:p>
          <a:p>
            <a:pPr>
              <a:spcAft>
                <a:spcPts val="1000"/>
              </a:spcAft>
            </a:pPr>
            <a:r>
              <a:rPr lang="en-US">
                <a:ea typeface="+mn-lt"/>
                <a:cs typeface="+mn-lt"/>
              </a:rPr>
              <a:t>We want to eliminate the thermodynamic inefficiency, massive aviation fuel waste, and severe air and noise pollution caused by heavy jet engines idling and crawling in stop-and-go ground traffic, ultimately reducing overall airline operating and maintenance costs. </a:t>
            </a:r>
            <a:endParaRPr lang="en-US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2000" b="1"/>
              <a:t>What successful improvement should you achieve</a:t>
            </a:r>
            <a:endParaRPr lang="en-US" sz="2000" b="1">
              <a:ea typeface="Calibri"/>
              <a:cs typeface="Calibri"/>
            </a:endParaRPr>
          </a:p>
          <a:p>
            <a:pPr>
              <a:spcAft>
                <a:spcPts val="1000"/>
              </a:spcAft>
            </a:pPr>
            <a:r>
              <a:rPr lang="en-US">
                <a:ea typeface="+mn-lt"/>
                <a:cs typeface="+mn-lt"/>
              </a:rPr>
              <a:t>We aim to achieve a 90% reduction in ground taxi fuel consumption, zero localized engine emissions, and zero engine </a:t>
            </a:r>
            <a:r>
              <a:rPr lang="en-US" dirty="0">
                <a:ea typeface="+mn-lt"/>
                <a:cs typeface="+mn-lt"/>
              </a:rPr>
              <a:t>damage from ground debris (FOD), alongside capturing reusable deceleration energy via a Kinetic Energy Recovery </a:t>
            </a:r>
            <a:r>
              <a:rPr lang="en-US">
                <a:ea typeface="+mn-lt"/>
                <a:cs typeface="+mn-lt"/>
              </a:rPr>
              <a:t>System (KERS) to power airport infrastructure.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CONTRIBUTION</a:t>
            </a:r>
            <a:endParaRPr lang="en-US" sz="240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>
                <a:solidFill>
                  <a:schemeClr val="accent5"/>
                </a:solidFill>
              </a:rPr>
              <a:t>TEAM</a:t>
            </a:r>
            <a:endParaRPr lang="en-US" sz="900"/>
          </a:p>
          <a:p>
            <a:pPr marL="0" indent="0">
              <a:buNone/>
            </a:pPr>
            <a:r>
              <a:rPr lang="en-US" sz="1500" b="1">
                <a:solidFill>
                  <a:schemeClr val="accent1"/>
                </a:solidFill>
              </a:rPr>
              <a:t>Aviators</a:t>
            </a:r>
            <a:endParaRPr lang="en-US" sz="90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chemeClr val="accent2"/>
                </a:solidFill>
              </a:rPr>
              <a:t>Who will handle which part of the execution</a:t>
            </a:r>
            <a:endParaRPr lang="en-US" sz="1800"/>
          </a:p>
        </p:txBody>
      </p:sp>
      <p:graphicFrame>
        <p:nvGraphicFramePr>
          <p:cNvPr id="10" name="Team Contribut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6272592"/>
              </p:ext>
            </p:extLst>
          </p:nvPr>
        </p:nvGraphicFramePr>
        <p:xfrm>
          <a:off x="528320" y="2011680"/>
          <a:ext cx="11188351" cy="4240115"/>
        </p:xfrm>
        <a:graphic>
          <a:graphicData uri="http://schemas.openxmlformats.org/drawingml/2006/table">
            <a:tbl>
              <a:tblPr/>
              <a:tblGrid>
                <a:gridCol w="2387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5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85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5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Member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 in Execution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5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Varshith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Vrindesh</a:t>
                      </a: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</a:rPr>
                        <a:t>Project Manager &amp; Lead Systems Integrator</a:t>
                      </a:r>
                      <a:endParaRPr lang="en-US"/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Directs execution by aligning cross-functional workflows and ensuring that all hardware and software subsystems function as a unified network.</a:t>
                      </a:r>
                      <a:endParaRPr lang="en-US"/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36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Jatin Dinesh</a:t>
                      </a: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Infrastructure &amp; Master Planning Lead</a:t>
                      </a:r>
                      <a:endParaRPr lang="en-US" sz="160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</a:rPr>
                        <a:t>Architect of the high-level physical track layout and network geometry, ensuring optimal spatial design and long-term expansion capabilities.</a:t>
                      </a:r>
                      <a:endParaRPr lang="en-US"/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96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 Guru Charan</a:t>
                      </a: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Operations &amp; Reliability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Engineer</a:t>
                      </a: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Ensures continuous network uptime and peak efficiency through system monitoring, stress testing, and predictive maintenance planning.</a:t>
                      </a:r>
                      <a:endParaRPr lang="en-US"/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68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Akshara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Pulicherla</a:t>
                      </a: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Ground Systems Engineer</a:t>
                      </a: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Overseas </a:t>
                      </a:r>
                      <a:r>
                        <a:rPr lang="en-US" sz="16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Calibri"/>
                          <a:ea typeface="Calibri"/>
                          <a:cs typeface="Calibri"/>
                        </a:rPr>
                        <a:t>daily stationary track environment operations, quick-response hardware troubleshooting, and the execution of emergency safety protocols.</a:t>
                      </a:r>
                      <a:endParaRPr lang="en-US" sz="1600" b="0" i="0" u="none" strike="noStrike" noProof="0">
                        <a:solidFill>
                          <a:srgbClr val="0E2A2F"/>
                        </a:solidFill>
                        <a:highlight>
                          <a:srgbClr val="FFFFFF"/>
                        </a:highlight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lvl="0" indent="0">
                        <a:buNone/>
                      </a:pPr>
                      <a:endParaRPr lang="en-US" sz="1600" b="0" i="0" u="none" strike="noStrike" noProof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nesis Ideathon">
  <a:themeElements>
    <a:clrScheme name="Genesis Ideathon">
      <a:dk1>
        <a:srgbClr val="0E2A2F"/>
      </a:dk1>
      <a:lt1>
        <a:srgbClr val="FFFFFF"/>
      </a:lt1>
      <a:dk2>
        <a:srgbClr val="052B35"/>
      </a:dk2>
      <a:lt2>
        <a:srgbClr val="F3F8F5"/>
      </a:lt2>
      <a:accent1>
        <a:srgbClr val="026855"/>
      </a:accent1>
      <a:accent2>
        <a:srgbClr val="094542"/>
      </a:accent2>
      <a:accent3>
        <a:srgbClr val="7AC143"/>
      </a:accent3>
      <a:accent4>
        <a:srgbClr val="4FA278"/>
      </a:accent4>
      <a:accent5>
        <a:srgbClr val="5B6F6B"/>
      </a:accent5>
      <a:accent6>
        <a:srgbClr val="D3E6DD"/>
      </a:accent6>
      <a:hlink>
        <a:srgbClr val="026855"/>
      </a:hlink>
      <a:folHlink>
        <a:srgbClr val="5B6F6B"/>
      </a:folHlink>
    </a:clrScheme>
    <a:fontScheme name="Genesis Ideath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Genesis Ideathon</vt:lpstr>
      <vt:lpstr>PowerPoint Presentation</vt:lpstr>
      <vt:lpstr>DOMAIN PROBLEM IN OUR WORDS</vt:lpstr>
      <vt:lpstr>WHO IS AFFECTED?</vt:lpstr>
      <vt:lpstr>CURRENT SITUATION &amp; CONTEXT</vt:lpstr>
      <vt:lpstr>KEY CHALLENGES</vt:lpstr>
      <vt:lpstr>EXISTING SOLUTIONS / APPROACHES</vt:lpstr>
      <vt:lpstr>PROBLEM INSIGHTS &amp; OPPORTUNITY AREAS</vt:lpstr>
      <vt:lpstr>INITIAL DIRECTION &amp; EXPECTED OUTCOME</vt:lpstr>
      <vt:lpstr>TEAM CONTRIBUTION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Genesis Ideathon – Pre-Ideathon Template</dc:title>
  <dc:subject>PptxGenJS Presentation</dc:subject>
  <dc:creator>Genesis Ideathon</dc:creator>
  <cp:revision>354</cp:revision>
  <dcterms:created xsi:type="dcterms:W3CDTF">2026-10-07T15:27:40Z</dcterms:created>
  <dcterms:modified xsi:type="dcterms:W3CDTF">2026-10-09T15:44:14Z</dcterms:modified>
</cp:coreProperties>
</file>